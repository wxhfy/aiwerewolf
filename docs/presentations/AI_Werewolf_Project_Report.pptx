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49377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3600" b="1">
                <a:solidFill>
                  <a:srgbClr val="F7F2E8"/>
                </a:solidFill>
                <a:latin typeface="Microsoft YaHei"/>
              </a:defRPr>
            </a:pPr>
            <a:r>
              <a:t>AI Werewolf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52144"/>
            <a:ext cx="38404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800" b="1">
                <a:solidFill>
                  <a:srgbClr val="D9A441"/>
                </a:solidFill>
                <a:latin typeface="Microsoft YaHei"/>
              </a:defRPr>
            </a:pPr>
            <a:r>
              <a:t>多智能体狼人杀项目汇报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627632"/>
            <a:ext cx="53035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600" b="0">
                <a:solidFill>
                  <a:srgbClr val="B8C2D1"/>
                </a:solidFill>
                <a:latin typeface="Microsoft YaHei"/>
              </a:defRPr>
            </a:pPr>
            <a:r>
              <a:t>对战 Play · 复盘 Evaluate · 进化 Evolve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4389120" cy="1188720"/>
          </a:xfrm>
          <a:prstGeom prst="rect">
            <a:avLst/>
          </a:prstGeom>
          <a:noFill/>
        </p:spPr>
        <p:txBody>
          <a:bodyPr wrap="square" lIns="54864" rIns="36576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400">
                <a:solidFill>
                  <a:srgbClr val="F7F2E8"/>
                </a:solidFill>
                <a:latin typeface="Microsoft YaHei"/>
              </a:rPr>
              <a:t>严格信息隔离下的多 Agent 博弈系统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400">
                <a:solidFill>
                  <a:srgbClr val="F7F2E8"/>
                </a:solidFill>
                <a:latin typeface="Microsoft YaHei"/>
              </a:rPr>
              <a:t>完整对局引擎 + 观战 UI + 真人/AI 混战入口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400">
                <a:solidFill>
                  <a:srgbClr val="F7F2E8"/>
                </a:solidFill>
                <a:latin typeface="Microsoft YaHei"/>
              </a:rPr>
              <a:t>Track B 逐步评分复盘，Track C 策略知识回流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5815584"/>
            <a:ext cx="1234440" cy="310896"/>
          </a:xfrm>
          <a:prstGeom prst="roundRect">
            <a:avLst/>
          </a:prstGeom>
          <a:solidFill>
            <a:srgbClr val="203047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900" b="0">
                <a:solidFill>
                  <a:srgbClr val="F7F2E8"/>
                </a:solidFill>
                <a:latin typeface="Microsoft YaHei"/>
              </a:defRPr>
            </a:pPr>
            <a:r>
              <a:t>2026-06-08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5815584"/>
            <a:ext cx="1463040" cy="310896"/>
          </a:xfrm>
          <a:prstGeom prst="roundRect">
            <a:avLst/>
          </a:prstGeom>
          <a:solidFill>
            <a:srgbClr val="203047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900" b="0">
                <a:solidFill>
                  <a:srgbClr val="F7F2E8"/>
                </a:solidFill>
                <a:latin typeface="Microsoft YaHei"/>
              </a:defRPr>
            </a:pPr>
            <a:r>
              <a:t>wxhfy / 付一涵</a:t>
            </a:r>
          </a:p>
        </p:txBody>
      </p:sp>
      <p:pic>
        <p:nvPicPr>
          <p:cNvPr id="8" name="Picture 7" descr="play-evaluate-evol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73041"/>
            <a:ext cx="5897880" cy="33175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455664"/>
            <a:ext cx="34747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AI Werewolf · Play / Evaluate / Evolve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37376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589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F7F2E8"/>
                </a:solidFill>
                <a:latin typeface="Microsoft YaHei"/>
              </a:defRPr>
            </a:pPr>
            <a:r>
              <a:t>汇报主线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从产品定位、系统架构、核心创新到验收证据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393192"/>
            <a:ext cx="1691640" cy="329184"/>
          </a:xfrm>
          <a:prstGeom prst="roundRect">
            <a:avLst/>
          </a:prstGeom>
          <a:solidFill>
            <a:srgbClr val="203047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0">
                <a:solidFill>
                  <a:srgbClr val="F7F2E8"/>
                </a:solidFill>
                <a:latin typeface="Microsoft YaHei"/>
              </a:defRPr>
            </a:pPr>
            <a: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9728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074920" cy="98755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64792"/>
            <a:ext cx="411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600" b="1">
                <a:solidFill>
                  <a:srgbClr val="D9A441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746504"/>
            <a:ext cx="4297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1">
                <a:solidFill>
                  <a:srgbClr val="F7F2E8"/>
                </a:solidFill>
                <a:latin typeface="Microsoft YaHei"/>
              </a:defRPr>
            </a:pPr>
            <a:r>
              <a:t>项目定位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048256"/>
            <a:ext cx="4297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为什么狼人杀适合作为信息不对称多智能体研究平台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074920" cy="98755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64792"/>
            <a:ext cx="411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600" b="1">
                <a:solidFill>
                  <a:srgbClr val="5CA7D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1746504"/>
            <a:ext cx="4297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1">
                <a:solidFill>
                  <a:srgbClr val="F7F2E8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2048256"/>
            <a:ext cx="4297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前后端实时系统、规则引擎、Agent 决策与数据库证据链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71800"/>
            <a:ext cx="5074920" cy="98755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136392"/>
            <a:ext cx="411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600" b="1">
                <a:solidFill>
                  <a:srgbClr val="5FB87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118104"/>
            <a:ext cx="4297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1">
                <a:solidFill>
                  <a:srgbClr val="F7F2E8"/>
                </a:solidFill>
                <a:latin typeface="Microsoft YaHei"/>
              </a:defRPr>
            </a:pPr>
            <a:r>
              <a:t>核心创新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3419856"/>
            <a:ext cx="4297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信息隔离、CognitiveAgent、Track B 复盘、Track C 自进化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71800"/>
            <a:ext cx="5074920" cy="98755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136392"/>
            <a:ext cx="411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600" b="1">
                <a:solidFill>
                  <a:srgbClr val="C8524A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3118104"/>
            <a:ext cx="4297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1">
                <a:solidFill>
                  <a:srgbClr val="F7F2E8"/>
                </a:solidFill>
                <a:latin typeface="Microsoft YaHei"/>
              </a:defRPr>
            </a:pPr>
            <a:r>
              <a:t>验收与边界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419856"/>
            <a:ext cx="4297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自动化测试、端到端 smoke、风险项与下一步计划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19472"/>
            <a:ext cx="10561320" cy="621792"/>
          </a:xfrm>
          <a:prstGeom prst="roundRect">
            <a:avLst/>
          </a:prstGeom>
          <a:solidFill>
            <a:srgbClr val="142033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5074920"/>
            <a:ext cx="98755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1">
                <a:solidFill>
                  <a:srgbClr val="F7F2E8"/>
                </a:solidFill>
                <a:latin typeface="Microsoft YaHei"/>
              </a:defRPr>
            </a:pPr>
            <a:r>
              <a:t>一句话结论：项目已形成可演示、可复盘、可积累策略知识的 AI 狼人杀闭环系统。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55664"/>
            <a:ext cx="34747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AI Werewolf · Play / Evaluate / Evolve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37376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589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F7F2E8"/>
                </a:solidFill>
                <a:latin typeface="Microsoft YaHei"/>
              </a:defRPr>
            </a:pPr>
            <a:r>
              <a:t>项目定位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AI Werewolf = 多智能体狼人杀研究平台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393192"/>
            <a:ext cx="1691640" cy="329184"/>
          </a:xfrm>
          <a:prstGeom prst="roundRect">
            <a:avLst/>
          </a:prstGeom>
          <a:solidFill>
            <a:srgbClr val="203047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0">
                <a:solidFill>
                  <a:srgbClr val="F7F2E8"/>
                </a:solidFill>
                <a:latin typeface="Microsoft YaHei"/>
              </a:defRPr>
            </a:pPr>
            <a:r>
              <a:t>Positioning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9728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444752"/>
            <a:ext cx="1645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D9A441"/>
                </a:solidFill>
                <a:latin typeface="Microsoft YaHei"/>
              </a:defRPr>
            </a:pPr>
            <a:r>
              <a:t>研究问题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810512"/>
            <a:ext cx="48006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700" b="1">
                <a:solidFill>
                  <a:srgbClr val="F7F2E8"/>
                </a:solidFill>
                <a:latin typeface="Microsoft YaHei"/>
              </a:defRPr>
            </a:pPr>
            <a:r>
              <a:t>在信息不对称、阵营对抗和自然语言交流同时存在的环境里，如何让 Agent 既遵守规则，又具备角色化推理、社交判断、复盘学习能力？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3182112"/>
            <a:ext cx="2423160" cy="80467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00984"/>
            <a:ext cx="21488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1">
                <a:solidFill>
                  <a:srgbClr val="D9A441"/>
                </a:solidFill>
                <a:latin typeface="Microsoft YaHei"/>
              </a:defRPr>
            </a:pPr>
            <a:r>
              <a:t>完整对局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75304"/>
            <a:ext cx="21488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15+ 细分阶段，夜晚技能、白天发言、投票、胜负判定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3182112"/>
            <a:ext cx="2423160" cy="80467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300984"/>
            <a:ext cx="21488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1">
                <a:solidFill>
                  <a:srgbClr val="D9A441"/>
                </a:solidFill>
                <a:latin typeface="Microsoft YaHei"/>
              </a:defRPr>
            </a:pPr>
            <a:r>
              <a:t>严格隔离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75304"/>
            <a:ext cx="21488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GameState 与 PlayerView 分离，Agent 只看到身份允许的信息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4233672"/>
            <a:ext cx="2423160" cy="80467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52544"/>
            <a:ext cx="21488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1">
                <a:solidFill>
                  <a:srgbClr val="D9A441"/>
                </a:solidFill>
                <a:latin typeface="Microsoft YaHei"/>
              </a:defRPr>
            </a:pPr>
            <a:r>
              <a:t>角色化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26864"/>
            <a:ext cx="21488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MBTI 人格 + Role 身份 + Strategy 知识三层架构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233672"/>
            <a:ext cx="2423160" cy="80467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52544"/>
            <a:ext cx="21488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1">
                <a:solidFill>
                  <a:srgbClr val="D9A441"/>
                </a:solidFill>
                <a:latin typeface="Microsoft YaHei"/>
              </a:defRPr>
            </a:pPr>
            <a:r>
              <a:t>可复盘进化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626864"/>
            <a:ext cx="21488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每步决策可评分、可解释，并沉淀为下一局策略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417320"/>
            <a:ext cx="5212080" cy="443484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691640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D9A441"/>
                </a:solidFill>
                <a:latin typeface="Microsoft YaHei"/>
              </a:defRPr>
            </a:pPr>
            <a:r>
              <a:t>两条主线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240280"/>
            <a:ext cx="1234439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FB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331720"/>
            <a:ext cx="14630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800" b="1">
                <a:solidFill>
                  <a:srgbClr val="5FB87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2240280"/>
            <a:ext cx="1234439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FB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2331720"/>
            <a:ext cx="14630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800" b="1">
                <a:solidFill>
                  <a:srgbClr val="5FB87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59" y="2240280"/>
            <a:ext cx="1234439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FB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Evolve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2944368"/>
            <a:ext cx="443484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系统闭环：对局执行 → 赛后评分 → 经验抽取 → 下一局策略回流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730752"/>
            <a:ext cx="1234439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C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Persona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3822191"/>
            <a:ext cx="14630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800" b="1">
                <a:solidFill>
                  <a:srgbClr val="5CA7D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3730752"/>
            <a:ext cx="1234439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C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Role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3822191"/>
            <a:ext cx="14630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800" b="1">
                <a:solidFill>
                  <a:srgbClr val="5CA7D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59" y="3730752"/>
            <a:ext cx="1234439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C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443984"/>
            <a:ext cx="443484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Agent 认知层：人格决定风格，身份决定规则边界，策略决定如何赢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55664"/>
            <a:ext cx="34747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AI Werewolf · Play / Evaluate / Evolve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437376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589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F7F2E8"/>
                </a:solidFill>
                <a:latin typeface="Microsoft YaHei"/>
              </a:defRPr>
            </a:pPr>
            <a:r>
              <a:t>系统总体架构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前端实时观战、后端规则引擎、Agent 决策、B/C 评测进化闭环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393192"/>
            <a:ext cx="1691640" cy="329184"/>
          </a:xfrm>
          <a:prstGeom prst="roundRect">
            <a:avLst/>
          </a:prstGeom>
          <a:solidFill>
            <a:srgbClr val="203047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0">
                <a:solidFill>
                  <a:srgbClr val="F7F2E8"/>
                </a:solidFill>
                <a:latin typeface="Microsoft YaHei"/>
              </a:defRPr>
            </a:pPr>
            <a: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9728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6486"/>
            <a:ext cx="7452360" cy="42851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320" y="1417320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D9A441"/>
                </a:solidFill>
                <a:latin typeface="Microsoft YaHei"/>
              </a:defRPr>
            </a:pPr>
            <a:r>
              <a:t>架构要点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74519"/>
            <a:ext cx="3246120" cy="1874519"/>
          </a:xfrm>
          <a:prstGeom prst="rect">
            <a:avLst/>
          </a:prstGeom>
          <a:noFill/>
        </p:spPr>
        <p:txBody>
          <a:bodyPr wrap="square" lIns="54864" rIns="36576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FastAPI + WebSocket 承担房间、快照和实时事件推送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WerewolfGame 是唯一规则主控，Agent 只提交 Decision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PostgreSQL 保存事件、快照、决策、评分、复盘和知识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Track B/C 在赛后消费证据链，再回流到 StrategyRetriever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251960"/>
            <a:ext cx="1463040" cy="11887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1624" y="4379976"/>
            <a:ext cx="1170432" cy="45171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5CA7D8"/>
                </a:solidFill>
                <a:latin typeface="Microsoft YaHei"/>
              </a:defRPr>
            </a:pPr>
            <a:r>
              <a:t>20+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9912" y="4965192"/>
            <a:ext cx="11338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F7F2E8"/>
                </a:solidFill>
                <a:latin typeface="Microsoft YaHei"/>
              </a:defRPr>
            </a:pPr>
            <a:r>
              <a:t>核心 ORM / 证据表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5257800"/>
            <a:ext cx="1133856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games / events / decisions / reviews / knowledge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4251960"/>
            <a:ext cx="1463040" cy="11887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94976" y="4379976"/>
            <a:ext cx="1170432" cy="45171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5FB878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13264" y="4965192"/>
            <a:ext cx="11338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F7F2E8"/>
                </a:solidFill>
                <a:latin typeface="Microsoft YaHei"/>
              </a:defRPr>
            </a:pPr>
            <a:r>
              <a:t>主要页面路由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13264" y="5257800"/>
            <a:ext cx="1133856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大厅、对局、Human、复盘、看板、Persona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55664"/>
            <a:ext cx="34747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AI Werewolf · Play / Evaluate / Evolve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37376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589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F7F2E8"/>
                </a:solidFill>
                <a:latin typeface="Microsoft YaHei"/>
              </a:defRPr>
            </a:pPr>
            <a:r>
              <a:t>单局对局流程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夜晚技能、白天发言投票、胜负判定与赛后处理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393192"/>
            <a:ext cx="1691640" cy="329184"/>
          </a:xfrm>
          <a:prstGeom prst="roundRect">
            <a:avLst/>
          </a:prstGeom>
          <a:solidFill>
            <a:srgbClr val="203047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0">
                <a:solidFill>
                  <a:srgbClr val="F7F2E8"/>
                </a:solidFill>
                <a:latin typeface="Microsoft YaHei"/>
              </a:defRPr>
            </a:pPr>
            <a:r>
              <a:t>Game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9728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me-operation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46504"/>
            <a:ext cx="6446520" cy="38679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417320"/>
            <a:ext cx="14630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D9A441"/>
                </a:solidFill>
                <a:latin typeface="Microsoft YaHei"/>
              </a:defRPr>
            </a:pPr>
            <a:r>
              <a:t>阶段流转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856231"/>
          <a:ext cx="40690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1143000"/>
              </a:tblGrid>
              <a:tr h="40005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7F2E8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36576" marR="36576" marT="27432" marB="27432">
                    <a:solidFill>
                      <a:srgbClr val="20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7F2E8"/>
                          </a:solidFill>
                          <a:latin typeface="Microsoft YaHei"/>
                        </a:defRPr>
                      </a:pPr>
                      <a:r>
                        <a:t>关键动作</a:t>
                      </a:r>
                    </a:p>
                  </a:txBody>
                  <a:tcPr marL="36576" marR="36576" marT="27432" marB="27432">
                    <a:solidFill>
                      <a:srgbClr val="20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7F2E8"/>
                          </a:solidFill>
                          <a:latin typeface="Microsoft YaHei"/>
                        </a:defRPr>
                      </a:pPr>
                      <a:r>
                        <a:t>主控</a:t>
                      </a:r>
                    </a:p>
                  </a:txBody>
                  <a:tcPr marL="36576" marR="36576" marT="27432" marB="27432">
                    <a:solidFill>
                      <a:srgbClr val="20304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夜晚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守卫 / 狼刀 / 女巫 / 预言家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引擎结算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白天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发言 / 警长 / 投票 / 遗言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阶段机调度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终局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胜负判定 / 复盘 / 知识抽取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B/C 后处理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60920" y="3794760"/>
            <a:ext cx="3886200" cy="1325880"/>
          </a:xfrm>
          <a:prstGeom prst="rect">
            <a:avLst/>
          </a:prstGeom>
          <a:noFill/>
        </p:spPr>
        <p:txBody>
          <a:bodyPr wrap="square" lIns="54864" rIns="36576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Agent 不直接修改 GameState，所有行动先过合法性校验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夜晚并行动作在结算阶段统一处理，避免先后执行悖论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终局后自动形成可回放、可评分、可抽取知识的证据链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34747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AI Werewolf · Play / Evaluate / Evolve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37376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589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F7F2E8"/>
                </a:solidFill>
                <a:latin typeface="Microsoft YaHei"/>
              </a:defRPr>
            </a:pPr>
            <a:r>
              <a:t>核心模块清单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从引擎到前端的可交付模块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393192"/>
            <a:ext cx="1691640" cy="329184"/>
          </a:xfrm>
          <a:prstGeom prst="roundRect">
            <a:avLst/>
          </a:prstGeom>
          <a:solidFill>
            <a:srgbClr val="203047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0">
                <a:solidFill>
                  <a:srgbClr val="F7F2E8"/>
                </a:solidFill>
                <a:latin typeface="Microsoft YaHei"/>
              </a:defRPr>
            </a:pPr>
            <a:r>
              <a:t>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9728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dule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91665"/>
            <a:ext cx="6126480" cy="3522726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03720" y="1417320"/>
          <a:ext cx="46177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651760"/>
                <a:gridCol w="731520"/>
              </a:tblGrid>
              <a:tr h="555171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7F2E8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36576" marR="36576" marT="27432" marB="27432">
                    <a:solidFill>
                      <a:srgbClr val="20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7F2E8"/>
                          </a:solidFill>
                          <a:latin typeface="Microsoft YaHei"/>
                        </a:defRPr>
                      </a:pPr>
                      <a:r>
                        <a:t>职责</a:t>
                      </a:r>
                    </a:p>
                  </a:txBody>
                  <a:tcPr marL="36576" marR="36576" marT="27432" marB="27432">
                    <a:solidFill>
                      <a:srgbClr val="20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7F2E8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 marL="36576" marR="36576" marT="27432" marB="27432">
                    <a:solidFill>
                      <a:srgbClr val="203047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WerewolfGame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初始化、阶段推进、结算、胜负、事件记录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Visibility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GameState -&gt; PlayerView，信息裁剪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92/92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CognitiveAgent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Observe / Memory / Planner / Tools / LLM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Track B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逐步评分、复盘、证据引用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Track C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lesson 抽取、知识生命周期、检索回流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</a:tr>
              <a:tr h="555174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Frontend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大厅、观战、Human、复盘、进化看板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67728" y="5532120"/>
            <a:ext cx="44805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设计原则：规则由引擎控制，视图由 Visibility 裁剪，Agent 输出意图，所有行为进入审计链。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34747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AI Werewolf · Play / Evaluate / Evolve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37376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589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F7F2E8"/>
                </a:solidFill>
                <a:latin typeface="Microsoft YaHei"/>
              </a:defRPr>
            </a:pPr>
            <a:r>
              <a:t>信息隔离：可信博弈的底座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GameState 是真相，PlayerView 是每个 Agent 的合法局部视角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393192"/>
            <a:ext cx="1691640" cy="329184"/>
          </a:xfrm>
          <a:prstGeom prst="roundRect">
            <a:avLst/>
          </a:prstGeom>
          <a:solidFill>
            <a:srgbClr val="203047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0">
                <a:solidFill>
                  <a:srgbClr val="F7F2E8"/>
                </a:solidFill>
                <a:latin typeface="Microsoft YaHei"/>
              </a:defRPr>
            </a:pPr>
            <a:r>
              <a:t>Visibility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9728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965960" cy="123444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545336"/>
            <a:ext cx="1673351" cy="46908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5FB878"/>
                </a:solidFill>
                <a:latin typeface="Microsoft YaHei"/>
              </a:defRPr>
            </a:pPr>
            <a:r>
              <a:t>92/92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30552"/>
            <a:ext cx="163677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F7F2E8"/>
                </a:solidFill>
                <a:latin typeface="Microsoft YaHei"/>
              </a:defRPr>
            </a:pPr>
            <a:r>
              <a:t>边界检查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23160"/>
            <a:ext cx="163677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verify_visibility_strict.py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417320"/>
            <a:ext cx="1965960" cy="123444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6664" y="1545336"/>
            <a:ext cx="1673351" cy="46908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5FB878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130552"/>
            <a:ext cx="163677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F7F2E8"/>
                </a:solidFill>
                <a:latin typeface="Microsoft YaHei"/>
              </a:defRPr>
            </a:pPr>
            <a:r>
              <a:t>公开角色泄漏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423160"/>
            <a:ext cx="163677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demo public role leak=false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417320"/>
            <a:ext cx="1965960" cy="123444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1224" y="1545336"/>
            <a:ext cx="1673351" cy="46908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5CA7D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2130552"/>
            <a:ext cx="163677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F7F2E8"/>
                </a:solidFill>
                <a:latin typeface="Microsoft YaHei"/>
              </a:defRPr>
            </a:pPr>
            <a:r>
              <a:t>视图体系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423160"/>
            <a:ext cx="163677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观众 / 上帝 / 玩家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063240"/>
            <a:ext cx="6355080" cy="251460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337560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1">
                <a:solidFill>
                  <a:srgbClr val="D9A441"/>
                </a:solidFill>
                <a:latin typeface="Microsoft YaHei"/>
              </a:defRPr>
            </a:pPr>
            <a:r>
              <a:t>隔离边界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67328"/>
            <a:ext cx="5715000" cy="1143000"/>
          </a:xfrm>
          <a:prstGeom prst="rect">
            <a:avLst/>
          </a:prstGeom>
          <a:noFill/>
        </p:spPr>
        <p:txBody>
          <a:bodyPr wrap="square" lIns="54864" rIns="36576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村民不可见查验、女巫夜间受害者、狼队沟通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狼人只可见狼队队友，不可见神职私有结果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预言家只可见自己的查验，女巫只可见自己的药与受害者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public event 不泄露角色分配或查验结果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444752"/>
            <a:ext cx="3749039" cy="4133087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1783080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500" b="1">
                <a:solidFill>
                  <a:srgbClr val="C8524A"/>
                </a:solidFill>
                <a:latin typeface="Microsoft YaHei"/>
              </a:defRPr>
            </a:pPr>
            <a:r>
              <a:t>GameState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331720"/>
            <a:ext cx="2651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0">
                <a:solidFill>
                  <a:srgbClr val="B8C2D1"/>
                </a:solidFill>
                <a:latin typeface="Microsoft YaHei"/>
              </a:defRPr>
            </a:pPr>
            <a:r>
              <a:t>↓ Visibility.for_player(player_id)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2926080"/>
            <a:ext cx="1097280" cy="438912"/>
          </a:xfrm>
          <a:prstGeom prst="roundRect">
            <a:avLst/>
          </a:prstGeom>
          <a:solidFill>
            <a:srgbClr val="142033"/>
          </a:solidFill>
          <a:ln w="12700">
            <a:solidFill>
              <a:srgbClr val="5C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900" b="0">
                <a:solidFill>
                  <a:srgbClr val="F7F2E8"/>
                </a:solidFill>
                <a:latin typeface="Microsoft YaHei"/>
              </a:defRPr>
            </a:pPr>
            <a:r>
              <a:t>PlayerView P1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926080"/>
            <a:ext cx="1097280" cy="438912"/>
          </a:xfrm>
          <a:prstGeom prst="roundRect">
            <a:avLst/>
          </a:prstGeom>
          <a:solidFill>
            <a:srgbClr val="142033"/>
          </a:solidFill>
          <a:ln w="12700">
            <a:solidFill>
              <a:srgbClr val="5FB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900" b="0">
                <a:solidFill>
                  <a:srgbClr val="F7F2E8"/>
                </a:solidFill>
                <a:latin typeface="Microsoft YaHei"/>
              </a:defRPr>
            </a:pPr>
            <a:r>
              <a:t>PlayerView P2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22208" y="3657600"/>
            <a:ext cx="1097280" cy="438912"/>
          </a:xfrm>
          <a:prstGeom prst="roundRect">
            <a:avLst/>
          </a:prstGeom>
          <a:solidFill>
            <a:srgbClr val="142033"/>
          </a:solidFill>
          <a:ln w="127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900" b="0">
                <a:solidFill>
                  <a:srgbClr val="F7F2E8"/>
                </a:solidFill>
                <a:latin typeface="Microsoft YaHei"/>
              </a:defRPr>
            </a:pPr>
            <a:r>
              <a:t>PlayerView P3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526280"/>
            <a:ext cx="29718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每个 Agent 的输入都由代码裁剪，而不是靠 Prompt 约束“不要偷看”。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55664"/>
            <a:ext cx="34747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AI Werewolf · Play / Evaluate / Evolve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37376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589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F7F2E8"/>
                </a:solidFill>
                <a:latin typeface="Microsoft YaHei"/>
              </a:defRPr>
            </a:pPr>
            <a:r>
              <a:t>CognitiveAgent：角色化决策主体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Observe -&gt; Think -&gt; Act -&gt; Reflect，工具调用 trace 可审计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393192"/>
            <a:ext cx="1691640" cy="329184"/>
          </a:xfrm>
          <a:prstGeom prst="roundRect">
            <a:avLst/>
          </a:prstGeom>
          <a:solidFill>
            <a:srgbClr val="203047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0">
                <a:solidFill>
                  <a:srgbClr val="F7F2E8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9728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1211580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2827" y="1600200"/>
            <a:ext cx="14630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800" b="1">
                <a:solidFill>
                  <a:srgbClr val="D9A44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3140" y="1508760"/>
            <a:ext cx="1211580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Think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8727" y="1600200"/>
            <a:ext cx="14630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800" b="1">
                <a:solidFill>
                  <a:srgbClr val="D9A44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508760"/>
            <a:ext cx="1211580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4628" y="1600200"/>
            <a:ext cx="14630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800" b="1">
                <a:solidFill>
                  <a:srgbClr val="D9A44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4940" y="1508760"/>
            <a:ext cx="1211580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Reflect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42316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1">
                <a:solidFill>
                  <a:srgbClr val="D9A441"/>
                </a:solidFill>
                <a:latin typeface="Microsoft YaHei"/>
              </a:defRPr>
            </a:pPr>
            <a:r>
              <a:t>三层 Prompt / 认知上下文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77240" y="2834640"/>
          <a:ext cx="49834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657600"/>
              </a:tblGrid>
              <a:tr h="40005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7F2E8"/>
                          </a:solidFill>
                          <a:latin typeface="Microsoft YaHei"/>
                        </a:defRPr>
                      </a:pPr>
                      <a:r>
                        <a:t>层</a:t>
                      </a:r>
                    </a:p>
                  </a:txBody>
                  <a:tcPr marL="36576" marR="36576" marT="27432" marB="27432">
                    <a:solidFill>
                      <a:srgbClr val="20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7F2E8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36576" marR="36576" marT="27432" marB="27432">
                    <a:solidFill>
                      <a:srgbClr val="20304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Persona / MBTI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控制表达风格、认知倾向、风险偏好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Role Identity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定义身份、阵营、技能和胜利条件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Strategy + Tools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注入当前可用策略、反模式和检索结果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0" y="1481328"/>
            <a:ext cx="16459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1">
                <a:solidFill>
                  <a:srgbClr val="D9A441"/>
                </a:solidFill>
                <a:latin typeface="Microsoft YaHei"/>
              </a:defRPr>
            </a:pPr>
            <a:r>
              <a:t>工具调用循环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938528"/>
            <a:ext cx="1965960" cy="34747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00" b="0">
                <a:solidFill>
                  <a:srgbClr val="F7F2E8"/>
                </a:solidFill>
                <a:latin typeface="Microsoft YaHei"/>
              </a:defRPr>
            </a:pPr>
            <a:r>
              <a:t>search_strategies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938528"/>
            <a:ext cx="1965960" cy="34747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00" b="0">
                <a:solidFill>
                  <a:srgbClr val="F7F2E8"/>
                </a:solidFill>
                <a:latin typeface="Microsoft YaHei"/>
              </a:defRPr>
            </a:pPr>
            <a:r>
              <a:t>recall_memory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578608"/>
            <a:ext cx="1965960" cy="34747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00" b="0">
                <a:solidFill>
                  <a:srgbClr val="F7F2E8"/>
                </a:solidFill>
                <a:latin typeface="Microsoft YaHei"/>
              </a:defRPr>
            </a:pPr>
            <a:r>
              <a:t>check_rules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2578608"/>
            <a:ext cx="1965960" cy="34747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00" b="0">
                <a:solidFill>
                  <a:srgbClr val="F7F2E8"/>
                </a:solidFill>
                <a:latin typeface="Microsoft YaHei"/>
              </a:defRPr>
            </a:pPr>
            <a:r>
              <a:t>get_social_info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218688"/>
            <a:ext cx="1965960" cy="34747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00" b="0">
                <a:solidFill>
                  <a:srgbClr val="F7F2E8"/>
                </a:solidFill>
                <a:latin typeface="Microsoft YaHei"/>
              </a:defRPr>
            </a:pPr>
            <a:r>
              <a:t>analyze_votes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3218688"/>
            <a:ext cx="1965960" cy="34747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00" b="0">
                <a:solidFill>
                  <a:srgbClr val="F7F2E8"/>
                </a:solidFill>
                <a:latin typeface="Microsoft YaHei"/>
              </a:defRPr>
            </a:pPr>
            <a:r>
              <a:t>set_strategic_intent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858768"/>
            <a:ext cx="1965960" cy="34747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800" b="0">
                <a:solidFill>
                  <a:srgbClr val="F7F2E8"/>
                </a:solidFill>
                <a:latin typeface="Microsoft YaHei"/>
              </a:defRPr>
            </a:pPr>
            <a:r>
              <a:t>submit_decision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709160"/>
            <a:ext cx="4480560" cy="658368"/>
          </a:xfrm>
          <a:prstGeom prst="roundRect">
            <a:avLst/>
          </a:prstGeom>
          <a:solidFill>
            <a:srgbClr val="142033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892040"/>
            <a:ext cx="4114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F7F2E8"/>
                </a:solidFill>
                <a:latin typeface="Microsoft YaHei"/>
              </a:defRPr>
            </a:pPr>
            <a:r>
              <a:t>收益：角色差异、记忆连续性、社交判断和策略回流都能进入同一条可审计决策链。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55664"/>
            <a:ext cx="34747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AI Werewolf · Play / Evaluate / Evolve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37376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589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F7F2E8"/>
                </a:solidFill>
                <a:latin typeface="Microsoft YaHei"/>
              </a:defRPr>
            </a:pPr>
            <a:r>
              <a:t>Play → Evaluate → Evolve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系统不只跑一局，还能解释一局、积累一局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393192"/>
            <a:ext cx="1691640" cy="329184"/>
          </a:xfrm>
          <a:prstGeom prst="roundRect">
            <a:avLst/>
          </a:prstGeom>
          <a:solidFill>
            <a:srgbClr val="203047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0">
                <a:solidFill>
                  <a:srgbClr val="F7F2E8"/>
                </a:solidFill>
                <a:latin typeface="Microsoft YaHei"/>
              </a:defRPr>
            </a:pPr>
            <a:r>
              <a:t>Closed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9728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lay-evaluate-evol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3073"/>
            <a:ext cx="6355080" cy="35747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3794760" cy="109728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7808" y="1700784"/>
            <a:ext cx="9144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600" b="1">
                <a:solidFill>
                  <a:srgbClr val="5FB878"/>
                </a:solidFill>
                <a:latin typeface="Microsoft YaHei"/>
              </a:defRPr>
            </a:pPr>
            <a:r>
              <a:t>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673352"/>
            <a:ext cx="23317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完整对局执行，写入 GameEvent / Snapshot / AgentDecision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852928"/>
            <a:ext cx="3794760" cy="109728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7808" y="3044952"/>
            <a:ext cx="11430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600" b="1">
                <a:solidFill>
                  <a:srgbClr val="5CA7D8"/>
                </a:solidFill>
                <a:latin typeface="Microsoft YaHei"/>
              </a:defRPr>
            </a:pPr>
            <a:r>
              <a:t>Evaluate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017520"/>
            <a:ext cx="20574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Track B 逐步评分，生成 ScoredStep 和 PublishedReview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4206240"/>
            <a:ext cx="3794760" cy="109728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4398264"/>
            <a:ext cx="11430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600" b="1">
                <a:solidFill>
                  <a:srgbClr val="D9A441"/>
                </a:solidFill>
                <a:latin typeface="Microsoft YaHei"/>
              </a:defRPr>
            </a:pPr>
            <a:r>
              <a:t>Evolve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370832"/>
            <a:ext cx="214884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Track C 抽取 lesson，进入 candidate / active 知识池再被检索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34747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AI Werewolf · Play / Evaluate / Evolve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37376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589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F7F2E8"/>
                </a:solidFill>
                <a:latin typeface="Microsoft YaHei"/>
              </a:defRPr>
            </a:pPr>
            <a:r>
              <a:t>Track B：逐步评分与复盘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从“谁赢了”推进到“每一步为什么好/坏”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393192"/>
            <a:ext cx="1691640" cy="329184"/>
          </a:xfrm>
          <a:prstGeom prst="roundRect">
            <a:avLst/>
          </a:prstGeom>
          <a:solidFill>
            <a:srgbClr val="203047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0">
                <a:solidFill>
                  <a:srgbClr val="F7F2E8"/>
                </a:solidFill>
                <a:latin typeface="Microsoft YaHei"/>
              </a:defRPr>
            </a:pPr>
            <a:r>
              <a:t>Evaluate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9728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D9A441"/>
                </a:solidFill>
                <a:latin typeface="Microsoft YaHei"/>
              </a:defRPr>
            </a:pPr>
            <a:r>
              <a:t>三级打分级联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01952"/>
            <a:ext cx="1676400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C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Tier 1 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3640" y="1993392"/>
            <a:ext cx="14630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800" b="1">
                <a:solidFill>
                  <a:srgbClr val="5CA7D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3952" y="1901952"/>
            <a:ext cx="1676400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C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Tier 2 轻量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4360" y="1993392"/>
            <a:ext cx="14630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800" b="1">
                <a:solidFill>
                  <a:srgbClr val="5CA7D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4672" y="1901952"/>
            <a:ext cx="1676400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C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Tier 3 评审团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88920"/>
            <a:ext cx="5669280" cy="1325880"/>
          </a:xfrm>
          <a:prstGeom prst="rect">
            <a:avLst/>
          </a:prstGeom>
          <a:noFill/>
        </p:spPr>
        <p:txBody>
          <a:bodyPr wrap="square" lIns="54864" rIns="36576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200">
                <a:solidFill>
                  <a:srgbClr val="F7F2E8"/>
                </a:solidFill>
                <a:latin typeface="Microsoft YaHei"/>
              </a:rPr>
              <a:t>明确场景用规则：投票、技能目标、信息泄露、非法行动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200">
                <a:solidFill>
                  <a:srgbClr val="F7F2E8"/>
                </a:solidFill>
                <a:latin typeface="Microsoft YaHei"/>
              </a:rPr>
              <a:t>模糊场景用轻量 LLM：发言有效性、推理质量、局势影响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200">
                <a:solidFill>
                  <a:srgbClr val="F7F2E8"/>
                </a:solidFill>
                <a:latin typeface="Microsoft YaHei"/>
              </a:rPr>
              <a:t>高影响决策可进入评审团，保留 counterfactual 和证据引用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800600"/>
            <a:ext cx="1371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1">
                <a:solidFill>
                  <a:srgbClr val="D9A441"/>
                </a:solidFill>
                <a:latin typeface="Microsoft YaHei"/>
              </a:defRPr>
            </a:pPr>
            <a:r>
              <a:t>输出对象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709160"/>
            <a:ext cx="1028700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FB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DecisionScore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1508" y="4800600"/>
            <a:ext cx="14630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800" b="1">
                <a:solidFill>
                  <a:srgbClr val="5FB87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31820" y="4709160"/>
            <a:ext cx="1028700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FB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ScoredStep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4800600"/>
            <a:ext cx="14630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800" b="1">
                <a:solidFill>
                  <a:srgbClr val="5FB87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4709160"/>
            <a:ext cx="1028700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FB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PlayerReview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7548" y="4800600"/>
            <a:ext cx="14630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800" b="1">
                <a:solidFill>
                  <a:srgbClr val="5FB87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37860" y="4709160"/>
            <a:ext cx="1028700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FB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PublishedReview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554480"/>
            <a:ext cx="1828800" cy="123444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1504" y="1682495"/>
            <a:ext cx="1536192" cy="46908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5FB878"/>
                </a:solidFill>
                <a:latin typeface="Microsoft YaHei"/>
              </a:defRPr>
            </a:pPr>
            <a:r>
              <a:t>42 passed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267712"/>
            <a:ext cx="149961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F7F2E8"/>
                </a:solidFill>
                <a:latin typeface="Microsoft YaHei"/>
              </a:defRPr>
            </a:pPr>
            <a:r>
              <a:t>B/C 验收专项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2560320"/>
            <a:ext cx="149961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test_api / test_b_full_acceptance / test_track_c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00032" y="1554480"/>
            <a:ext cx="1828800" cy="123444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682495"/>
            <a:ext cx="1536192" cy="46908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5CA7D8"/>
                </a:solidFill>
                <a:latin typeface="Microsoft YaHei"/>
              </a:defRPr>
            </a:pPr>
            <a:r>
              <a:t>27/27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4624" y="2267712"/>
            <a:ext cx="149961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F7F2E8"/>
                </a:solidFill>
                <a:latin typeface="Microsoft YaHei"/>
              </a:defRPr>
            </a:pPr>
            <a:r>
              <a:t>strict ScoredStep 覆盖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4624" y="2560320"/>
            <a:ext cx="149961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backend_acceptance 记录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3337560"/>
            <a:ext cx="3931920" cy="162763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71231" y="3611880"/>
            <a:ext cx="12801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300" b="1">
                <a:solidFill>
                  <a:srgbClr val="D9A441"/>
                </a:solidFill>
                <a:latin typeface="Microsoft YaHei"/>
              </a:defRPr>
            </a:pPr>
            <a:r>
              <a:t>可展示价值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3977639"/>
            <a:ext cx="33375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0">
                <a:solidFill>
                  <a:srgbClr val="B8C2D1"/>
                </a:solidFill>
                <a:latin typeface="Microsoft YaHei"/>
              </a:defRPr>
            </a:pPr>
            <a:r>
              <a:t>复盘报告不只是文本总结，而是可回链到原始事件、Agent 决策和当时可见信息的证据化报告。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55664"/>
            <a:ext cx="34747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AI Werewolf · Play / Evaluate / Evolve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437376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589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F7F2E8"/>
                </a:solidFill>
                <a:latin typeface="Microsoft YaHei"/>
              </a:defRPr>
            </a:pPr>
            <a:r>
              <a:t>Track C：知识抽取与安全回流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把复盘结论沉淀为下一局可检索策略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393192"/>
            <a:ext cx="1691640" cy="329184"/>
          </a:xfrm>
          <a:prstGeom prst="roundRect">
            <a:avLst/>
          </a:prstGeom>
          <a:solidFill>
            <a:srgbClr val="203047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0">
                <a:solidFill>
                  <a:srgbClr val="F7F2E8"/>
                </a:solidFill>
                <a:latin typeface="Microsoft YaHei"/>
              </a:defRPr>
            </a:pPr>
            <a:r>
              <a:t>Evolve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9728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ack-bc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55933"/>
            <a:ext cx="6355080" cy="35747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46304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D9A441"/>
                </a:solidFill>
                <a:latin typeface="Microsoft YaHei"/>
              </a:defRPr>
            </a:pPr>
            <a:r>
              <a:t>知识生命周期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965960"/>
            <a:ext cx="1021080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0288" y="2057400"/>
            <a:ext cx="14630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800" b="1">
                <a:solidFill>
                  <a:srgbClr val="D9A44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10600" y="1965960"/>
            <a:ext cx="1021080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5688" y="2057400"/>
            <a:ext cx="14630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800" b="1">
                <a:solidFill>
                  <a:srgbClr val="D9A44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06000" y="1965960"/>
            <a:ext cx="1021080" cy="5029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7F2E8"/>
                </a:solidFill>
                <a:latin typeface="Microsoft YaHei"/>
              </a:defRPr>
            </a:pPr>
            <a:r>
              <a:t>deprecated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2834640"/>
            <a:ext cx="3886200" cy="1508760"/>
          </a:xfrm>
          <a:prstGeom prst="rect">
            <a:avLst/>
          </a:prstGeom>
          <a:noFill/>
        </p:spPr>
        <p:txBody>
          <a:bodyPr wrap="square" lIns="54864" rIns="36576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新 lesson 默认进入 candidate，避免直接污染 active 策略池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检索侧使用 confidence / visibility / privacy / applicability 四重过滤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保留 source_game / source_event / source_item，知识可追溯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Track C 只注入 Strategy 层，不污染身份规则和人格风格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892040"/>
            <a:ext cx="1188720" cy="100584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07224" y="5020055"/>
            <a:ext cx="896112" cy="3822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5FB878"/>
                </a:solidFill>
                <a:latin typeface="Microsoft YaHei"/>
              </a:defRPr>
            </a:pPr>
            <a:r>
              <a:t>401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5605272"/>
            <a:ext cx="85953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F7F2E8"/>
                </a:solidFill>
                <a:latin typeface="Microsoft YaHei"/>
              </a:defRPr>
            </a:pPr>
            <a:r>
              <a:t>当前 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512" y="5897879"/>
            <a:ext cx="859536" cy="-457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DB 快照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4892040"/>
            <a:ext cx="1188720" cy="100584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78824" y="5020055"/>
            <a:ext cx="896112" cy="3822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D9A441"/>
                </a:solidFill>
                <a:latin typeface="Microsoft YaHei"/>
              </a:defRPr>
            </a:pPr>
            <a:r>
              <a:t>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5605272"/>
            <a:ext cx="85953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F7F2E8"/>
                </a:solidFill>
                <a:latin typeface="Microsoft YaHei"/>
              </a:defRPr>
            </a:pPr>
            <a:r>
              <a:t>当前 candidate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5897879"/>
            <a:ext cx="859536" cy="-457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DB 快照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4892040"/>
            <a:ext cx="1188720" cy="100584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50424" y="5020055"/>
            <a:ext cx="896112" cy="3822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5CA7D8"/>
                </a:solidFill>
                <a:latin typeface="Microsoft YaHei"/>
              </a:defRPr>
            </a:pPr>
            <a:r>
              <a:t>127k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8712" y="5605272"/>
            <a:ext cx="85953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F7F2E8"/>
                </a:solidFill>
                <a:latin typeface="Microsoft YaHei"/>
              </a:defRPr>
            </a:pPr>
            <a:r>
              <a:t>usage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8712" y="5897879"/>
            <a:ext cx="859536" cy="-457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DB 快照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55664"/>
            <a:ext cx="34747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AI Werewolf · Play / Evaluate / Evolve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37376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589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F7F2E8"/>
                </a:solidFill>
                <a:latin typeface="Microsoft YaHei"/>
              </a:defRPr>
            </a:pPr>
            <a:r>
              <a:t>产品化界面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Next.js 观战 UI、Human 模式、复盘与进化看板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393192"/>
            <a:ext cx="1691640" cy="329184"/>
          </a:xfrm>
          <a:prstGeom prst="roundRect">
            <a:avLst/>
          </a:prstGeom>
          <a:solidFill>
            <a:srgbClr val="203047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0">
                <a:solidFill>
                  <a:srgbClr val="F7F2E8"/>
                </a:solidFill>
                <a:latin typeface="Microsoft YaHei"/>
              </a:defRPr>
            </a:pPr>
            <a:r>
              <a:t>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9728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417320"/>
            <a:ext cx="4754880" cy="658368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17830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D9A441"/>
                </a:solidFill>
                <a:latin typeface="Aptos"/>
              </a:defRPr>
            </a:pPr>
            <a: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1488" y="1527048"/>
            <a:ext cx="24231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1">
                <a:solidFill>
                  <a:srgbClr val="F7F2E8"/>
                </a:solidFill>
                <a:latin typeface="Microsoft YaHei"/>
              </a:defRPr>
            </a:pPr>
            <a:r>
              <a:t>大厅 / 创建房间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1783080"/>
            <a:ext cx="24231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已纳入 build / UI smoke 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1417320"/>
            <a:ext cx="4754880" cy="658368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C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27048"/>
            <a:ext cx="17830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5CA7D8"/>
                </a:solidFill>
                <a:latin typeface="Aptos"/>
              </a:defRPr>
            </a:pPr>
            <a:r>
              <a:t>/room/[id]/play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8" y="1527048"/>
            <a:ext cx="24231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1">
                <a:solidFill>
                  <a:srgbClr val="F7F2E8"/>
                </a:solidFill>
                <a:latin typeface="Microsoft YaHei"/>
              </a:defRPr>
            </a:pPr>
            <a:r>
              <a:t>AI 对局观战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8" y="1783080"/>
            <a:ext cx="24231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已纳入 build / UI smoke 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377440"/>
            <a:ext cx="4754880" cy="658368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FB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7830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5FB878"/>
                </a:solidFill>
                <a:latin typeface="Aptos"/>
              </a:defRPr>
            </a:pPr>
            <a:r>
              <a:t>/room/[id]/human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2487168"/>
            <a:ext cx="24231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1">
                <a:solidFill>
                  <a:srgbClr val="F7F2E8"/>
                </a:solidFill>
                <a:latin typeface="Microsoft YaHei"/>
              </a:defRPr>
            </a:pPr>
            <a:r>
              <a:t>真人玩家操作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2743200"/>
            <a:ext cx="24231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已纳入 build / UI smoke 验证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48" y="2377440"/>
            <a:ext cx="4754880" cy="658368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9B7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487168"/>
            <a:ext cx="17830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9B7BD8"/>
                </a:solidFill>
                <a:latin typeface="Aptos"/>
              </a:defRPr>
            </a:pPr>
            <a:r>
              <a:t>/games/[id]/report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8" y="2487168"/>
            <a:ext cx="24231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1">
                <a:solidFill>
                  <a:srgbClr val="F7F2E8"/>
                </a:solidFill>
                <a:latin typeface="Microsoft YaHei"/>
              </a:defRPr>
            </a:pPr>
            <a:r>
              <a:t>单局复盘报告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8" y="2743200"/>
            <a:ext cx="24231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已纳入 build / UI smoke 验证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337560"/>
            <a:ext cx="4754880" cy="658368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C85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47288"/>
            <a:ext cx="17830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C8524A"/>
                </a:solidFill>
                <a:latin typeface="Aptos"/>
              </a:defRPr>
            </a:pPr>
            <a:r>
              <a:t>/evolution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3447288"/>
            <a:ext cx="24231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1">
                <a:solidFill>
                  <a:srgbClr val="F7F2E8"/>
                </a:solidFill>
                <a:latin typeface="Microsoft YaHei"/>
              </a:defRPr>
            </a:pPr>
            <a:r>
              <a:t>策略进化看板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3703320"/>
            <a:ext cx="24231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已纳入 build / UI smoke 验证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9048" y="3337560"/>
            <a:ext cx="4754880" cy="658368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C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447288"/>
            <a:ext cx="17830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5CA7D8"/>
                </a:solidFill>
                <a:latin typeface="Aptos"/>
              </a:defRPr>
            </a:pPr>
            <a:r>
              <a:t>/eval/dashboard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8" y="3447288"/>
            <a:ext cx="24231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1">
                <a:solidFill>
                  <a:srgbClr val="F7F2E8"/>
                </a:solidFill>
                <a:latin typeface="Microsoft YaHei"/>
              </a:defRPr>
            </a:pPr>
            <a:r>
              <a:t>评测仪表盘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3703320"/>
            <a:ext cx="24231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已纳入 build / UI smoke 验证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4297680"/>
            <a:ext cx="4754880" cy="658368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407408"/>
            <a:ext cx="17830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D9A441"/>
                </a:solidFill>
                <a:latin typeface="Aptos"/>
              </a:defRPr>
            </a:pPr>
            <a:r>
              <a:t>/personas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1488" y="4407408"/>
            <a:ext cx="24231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1">
                <a:solidFill>
                  <a:srgbClr val="F7F2E8"/>
                </a:solidFill>
                <a:latin typeface="Microsoft YaHei"/>
              </a:defRPr>
            </a:pPr>
            <a:r>
              <a:t>Persona 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1488" y="4663440"/>
            <a:ext cx="24231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已纳入 build / UI smoke 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5440680"/>
            <a:ext cx="10104120" cy="457200"/>
          </a:xfrm>
          <a:prstGeom prst="roundRect">
            <a:avLst/>
          </a:prstGeom>
          <a:solidFill>
            <a:srgbClr val="142033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577840"/>
            <a:ext cx="9738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F7F2E8"/>
                </a:solidFill>
                <a:latin typeface="Microsoft YaHei"/>
              </a:defRPr>
            </a:pPr>
            <a:r>
              <a:t>UI smoke 覆盖：进化页加载、对局到 GAME_END、复盘 iframe、HTML 复盘资产、中英文切换、AI/Human 房间流程。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55664"/>
            <a:ext cx="34747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AI Werewolf · Play / Evaluate / Evolve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437376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589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F7F2E8"/>
                </a:solidFill>
                <a:latin typeface="Microsoft YaHei"/>
              </a:defRPr>
            </a:pPr>
            <a:r>
              <a:t>自动化验收结果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当前工作区本地可复现验证，fake LLM provider，日期 2026-06-08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393192"/>
            <a:ext cx="1691640" cy="329184"/>
          </a:xfrm>
          <a:prstGeom prst="roundRect">
            <a:avLst/>
          </a:prstGeom>
          <a:solidFill>
            <a:srgbClr val="203047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0">
                <a:solidFill>
                  <a:srgbClr val="F7F2E8"/>
                </a:solidFill>
                <a:latin typeface="Microsoft YaHei"/>
              </a:defRPr>
            </a:pPr>
            <a:r>
              <a:t>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9728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3063240" cy="11887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45336"/>
            <a:ext cx="2770632" cy="45171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5FB878"/>
                </a:solidFill>
                <a:latin typeface="Microsoft YaHei"/>
              </a:defRPr>
            </a:pPr>
            <a:r>
              <a:t>449 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130552"/>
            <a:ext cx="27340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F7F2E8"/>
                </a:solidFill>
                <a:latin typeface="Microsoft YaHei"/>
              </a:defRPr>
            </a:pPr>
            <a:r>
              <a:t>pytest tests/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423160"/>
            <a:ext cx="2734056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27 skipped, 26 warnings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417320"/>
            <a:ext cx="3063240" cy="11887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545336"/>
            <a:ext cx="2770632" cy="45171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5CA7D8"/>
                </a:solidFill>
                <a:latin typeface="Microsoft YaHei"/>
              </a:defRPr>
            </a:pPr>
            <a:r>
              <a:t>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130552"/>
            <a:ext cx="27340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F7F2E8"/>
                </a:solidFill>
                <a:latin typeface="Microsoft YaHei"/>
              </a:defRPr>
            </a:pPr>
            <a:r>
              <a:t>E2E smoke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423160"/>
            <a:ext cx="2734056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scripts/e2e_smoke.py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1" y="1417320"/>
            <a:ext cx="3063240" cy="11887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545336"/>
            <a:ext cx="2770632" cy="45171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D9A441"/>
                </a:solidFill>
                <a:latin typeface="Microsoft YaHei"/>
              </a:defRPr>
            </a:pPr>
            <a:r>
              <a:t>92 /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2130552"/>
            <a:ext cx="27340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F7F2E8"/>
                </a:solidFill>
                <a:latin typeface="Microsoft YaHei"/>
              </a:defRPr>
            </a:pPr>
            <a:r>
              <a:t>Visibility strict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2423160"/>
            <a:ext cx="2734056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92 passed, 0 failed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926080"/>
            <a:ext cx="3063240" cy="11887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054096"/>
            <a:ext cx="2770632" cy="45171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9B7BD8"/>
                </a:solidFill>
                <a:latin typeface="Microsoft YaHei"/>
              </a:defRPr>
            </a:pPr>
            <a:r>
              <a:t>GAME_END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3639312"/>
            <a:ext cx="27340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F7F2E8"/>
                </a:solidFill>
                <a:latin typeface="Microsoft YaHei"/>
              </a:defRPr>
            </a:pPr>
            <a:r>
              <a:t>Demo game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931920"/>
            <a:ext cx="2734056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10 players, 157 events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2926080"/>
            <a:ext cx="3063240" cy="11887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6" y="3054096"/>
            <a:ext cx="2770632" cy="45171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5FB878"/>
                </a:solidFill>
                <a:latin typeface="Microsoft YaHei"/>
              </a:defRPr>
            </a:pPr>
            <a:r>
              <a:t>lint +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3639312"/>
            <a:ext cx="27340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F7F2E8"/>
                </a:solidFill>
                <a:latin typeface="Microsoft YaHei"/>
              </a:defRPr>
            </a:pPr>
            <a: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3931920"/>
            <a:ext cx="2734056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UI smoke passed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1" y="2926080"/>
            <a:ext cx="3063240" cy="1188720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5" y="3054096"/>
            <a:ext cx="2770632" cy="45171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5CA7D8"/>
                </a:solidFill>
                <a:latin typeface="Microsoft YaHei"/>
              </a:defRPr>
            </a:pPr>
            <a:r>
              <a:t>42 passed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3639312"/>
            <a:ext cx="27340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F7F2E8"/>
                </a:solidFill>
                <a:latin typeface="Microsoft YaHei"/>
              </a:defRPr>
            </a:pPr>
            <a:r>
              <a:t>Track B/C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3" y="3931920"/>
            <a:ext cx="2734056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关键链路专项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13232" y="4617720"/>
          <a:ext cx="1056132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914400"/>
                <a:gridCol w="8046720"/>
              </a:tblGrid>
              <a:tr h="2209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7F2E8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marL="36576" marR="36576" marT="27432" marB="27432">
                    <a:solidFill>
                      <a:srgbClr val="20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7F2E8"/>
                          </a:solidFill>
                          <a:latin typeface="Microsoft YaHei"/>
                        </a:defRPr>
                      </a:pPr>
                      <a:r>
                        <a:t>结论</a:t>
                      </a:r>
                    </a:p>
                  </a:txBody>
                  <a:tcPr marL="36576" marR="36576" marT="27432" marB="27432">
                    <a:solidFill>
                      <a:srgbClr val="20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7F2E8"/>
                          </a:solidFill>
                          <a:latin typeface="Microsoft YaHei"/>
                        </a:defRPr>
                      </a:pPr>
                      <a:r>
                        <a:t>证据</a:t>
                      </a:r>
                    </a:p>
                  </a:txBody>
                  <a:tcPr marL="36576" marR="36576" marT="27432" marB="27432">
                    <a:solidFill>
                      <a:srgbClr val="203047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对局引擎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backend.run_demo 到 GAME_END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信息隔离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92 项检查，public role leak=false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后端 API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rooms / games / snapshot / health smoke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前端流程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build + browser smoke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复盘与进化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B8C2D1"/>
                          </a:solidFill>
                          <a:latin typeface="Microsoft YaHei"/>
                        </a:defRPr>
                      </a:pPr>
                      <a:r>
                        <a:t>报告导出、B-&gt;C、知识回流</a:t>
                      </a:r>
                    </a:p>
                  </a:txBody>
                  <a:tcPr marL="36576" marR="36576" marT="27432" marB="27432">
                    <a:solidFill>
                      <a:srgbClr val="182538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66928" y="6455664"/>
            <a:ext cx="34747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AI Werewolf · Play / Evaluate / Evolve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437376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589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F7F2E8"/>
                </a:solidFill>
                <a:latin typeface="Microsoft YaHei"/>
              </a:defRPr>
            </a:pPr>
            <a:r>
              <a:t>本轮修复与风险边界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验收中发现的问题已收敛，同时保留真实 LLM 长跑等补验项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393192"/>
            <a:ext cx="1691640" cy="329184"/>
          </a:xfrm>
          <a:prstGeom prst="roundRect">
            <a:avLst/>
          </a:prstGeom>
          <a:solidFill>
            <a:srgbClr val="203047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0">
                <a:solidFill>
                  <a:srgbClr val="F7F2E8"/>
                </a:solidFill>
                <a:latin typeface="Microsoft YaHei"/>
              </a:defRPr>
            </a:pPr>
            <a:r>
              <a:t>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9728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5FB878"/>
                </a:solidFill>
                <a:latin typeface="Microsoft YaHei"/>
              </a:defRPr>
            </a:pPr>
            <a:r>
              <a:t>已修复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5166360" cy="1645920"/>
          </a:xfrm>
          <a:prstGeom prst="rect">
            <a:avLst/>
          </a:prstGeom>
          <a:noFill/>
        </p:spPr>
        <p:txBody>
          <a:bodyPr wrap="square" lIns="54864" rIns="36576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5FB878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恢复 Track B speech semantic audit 与 speech act classifier 报告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5FB878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补齐 StrategyKnowledgeDocData experiment_id 传递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5FB878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修复 AbstractedLesson 到 PostgreSQL 字段映射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5FB878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修复知识 upsert 时间序列化与 UI smoke 断言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D9A441"/>
                </a:solidFill>
                <a:latin typeface="Microsoft YaHei"/>
              </a:defRPr>
            </a:pPr>
            <a:r>
              <a:t>风险与补验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09160" cy="1645920"/>
          </a:xfrm>
          <a:prstGeom prst="rect">
            <a:avLst/>
          </a:prstGeom>
          <a:noFill/>
        </p:spPr>
        <p:txBody>
          <a:bodyPr wrap="square" lIns="54864" rIns="36576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答辩前建议用真实 provider 跑 7P / 9P / 12P 各 1 局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Track C 胜率提升仍需 paired seed 在线 A/B 实验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并发 WebSocket / 重连压力测试未作为本轮自动化主项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数据库历史实验需按 experiment_id / provider / strict 标记过滤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251960"/>
            <a:ext cx="10332720" cy="960120"/>
          </a:xfrm>
          <a:prstGeom prst="roundRect">
            <a:avLst/>
          </a:prstGeom>
          <a:solidFill>
            <a:srgbClr val="142033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98848"/>
            <a:ext cx="11887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300" b="1">
                <a:solidFill>
                  <a:srgbClr val="D9A441"/>
                </a:solidFill>
                <a:latin typeface="Microsoft YaHei"/>
              </a:defRPr>
            </a:pPr>
            <a:r>
              <a:t>结论边界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80560"/>
            <a:ext cx="87325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F7F2E8"/>
                </a:solidFill>
                <a:latin typeface="Microsoft YaHei"/>
              </a:defRPr>
            </a:pPr>
            <a:r>
              <a:t>当前 PPT 中的验收结论引用的是本地可复现自动化结果；历史数据库快照和占位图表不混写为正式提升结论。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34747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AI Werewolf · Play / Evaluate / Evolve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37376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5895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1">
                <a:solidFill>
                  <a:srgbClr val="F7F2E8"/>
                </a:solidFill>
                <a:latin typeface="Microsoft YaHei"/>
              </a:defRPr>
            </a:pPr>
            <a:r>
              <a:t>总结与下一步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从可玩系统到可验证研究平台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393192"/>
            <a:ext cx="1691640" cy="329184"/>
          </a:xfrm>
          <a:prstGeom prst="roundRect">
            <a:avLst/>
          </a:prstGeom>
          <a:solidFill>
            <a:srgbClr val="203047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0">
                <a:solidFill>
                  <a:srgbClr val="F7F2E8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9728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D9A441"/>
                </a:solidFill>
                <a:latin typeface="Microsoft YaHei"/>
              </a:defRPr>
            </a:pPr>
            <a:r>
              <a:t>当前交付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4709160" cy="71323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FB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1">
                <a:solidFill>
                  <a:srgbClr val="5FB878"/>
                </a:solidFill>
                <a:latin typeface="Microsoft YaHei"/>
              </a:defRPr>
            </a:pPr>
            <a:r>
              <a:t>能玩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84832"/>
            <a:ext cx="33375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完整狼人杀引擎，支持 AI 对局、Human 模式、实时观战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907792"/>
            <a:ext cx="4709160" cy="71323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5C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63240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1">
                <a:solidFill>
                  <a:srgbClr val="5CA7D8"/>
                </a:solidFill>
                <a:latin typeface="Microsoft YaHei"/>
              </a:defRPr>
            </a:pPr>
            <a:r>
              <a:t>能解释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072384"/>
            <a:ext cx="33375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事件、决策、评分、复盘全链路可追溯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3895344"/>
            <a:ext cx="4709160" cy="713232"/>
          </a:xfrm>
          <a:prstGeom prst="roundRect">
            <a:avLst/>
          </a:prstGeom>
          <a:solidFill>
            <a:srgbClr val="182538"/>
          </a:solidFill>
          <a:ln w="127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50791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1">
                <a:solidFill>
                  <a:srgbClr val="D9A441"/>
                </a:solidFill>
                <a:latin typeface="Microsoft YaHei"/>
              </a:defRPr>
            </a:pPr>
            <a:r>
              <a:t>能积累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059935"/>
            <a:ext cx="33375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>
                <a:solidFill>
                  <a:srgbClr val="B8C2D1"/>
                </a:solidFill>
                <a:latin typeface="Microsoft YaHei"/>
              </a:defRPr>
            </a:pPr>
            <a:r>
              <a:t>Track C 将复盘经验转为可检索策略知识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D9A441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4526280" cy="1874519"/>
          </a:xfrm>
          <a:prstGeom prst="rect">
            <a:avLst/>
          </a:prstGeom>
          <a:noFill/>
        </p:spPr>
        <p:txBody>
          <a:bodyPr wrap="square" lIns="54864" rIns="36576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冻结一次真实 LLM + PostgreSQL strict 验收输出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补 paired seed 多局 A/B，量化 Track C 对胜率/决策分的影响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扩展并发观战、断线重连和更多角色规则专项测试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D9A441"/>
                </a:solidFill>
                <a:latin typeface="Microsoft YaHei"/>
              </a:rPr>
              <a:t>• </a:t>
            </a:r>
            <a:r>
              <a:rPr sz="1100">
                <a:solidFill>
                  <a:srgbClr val="F7F2E8"/>
                </a:solidFill>
                <a:latin typeface="Microsoft YaHei"/>
              </a:rPr>
              <a:t>将复盘报告与策略卡进一步产品化，形成演示闭环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5166360"/>
            <a:ext cx="10287000" cy="658368"/>
          </a:xfrm>
          <a:prstGeom prst="roundRect">
            <a:avLst/>
          </a:prstGeom>
          <a:solidFill>
            <a:srgbClr val="142033"/>
          </a:solidFill>
          <a:ln w="1270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358384"/>
            <a:ext cx="97383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500" b="1">
                <a:solidFill>
                  <a:srgbClr val="F7F2E8"/>
                </a:solidFill>
                <a:latin typeface="Microsoft YaHei"/>
              </a:defRPr>
            </a:pPr>
            <a:r>
              <a:t>最终判断：当前项目主体功能达到交付演示与答辩验收要求。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55664"/>
            <a:ext cx="34747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B8C2D1"/>
                </a:solidFill>
                <a:latin typeface="Microsoft YaHei"/>
              </a:defRPr>
            </a:pPr>
            <a:r>
              <a:t>AI Werewolf · Play / Evaluate / Evolve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37376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0">
                <a:solidFill>
                  <a:srgbClr val="B8C2D1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